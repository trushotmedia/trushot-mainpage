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2798a33a3c4839" /><Relationship Type="http://schemas.openxmlformats.org/officeDocument/2006/relationships/extended-properties" Target="/docProps/app.xml" Id="R392d3c9fc2fa44a0" /><Relationship Type="http://schemas.openxmlformats.org/officeDocument/2006/relationships/officeDocument" Target="/ppt/presentation.xml" Id="R9822443869f34b96" /></Relationships>
</file>

<file path=ppt/presentation.xml><?xml version="1.0" encoding="utf-8"?>
<p:presentation xmlns:p="http://schemas.openxmlformats.org/presentationml/2006/main">
  <p:sldMasterIdLst>
    <p:sldMasterId xmlns:r="http://schemas.openxmlformats.org/officeDocument/2006/relationships" id="2147483648" r:id="R88d9d4bc44174bec"/>
  </p:sldMasterIdLst>
  <p:notesMasterIdLst>
    <p:notesMasterId xmlns:r="http://schemas.openxmlformats.org/officeDocument/2006/relationships" r:id="R7272804028eb4e01"/>
  </p:notesMasterIdLst>
  <p:sldIdLst>
    <p:sldId xmlns:r="http://schemas.openxmlformats.org/officeDocument/2006/relationships" id="256" r:id="Re8f45385c478472e"/>
    <p:sldId xmlns:r="http://schemas.openxmlformats.org/officeDocument/2006/relationships" id="257" r:id="R572bd857c8124fef"/>
  </p:sldIdLst>
  <p:sldSz cx="5327999" cy="7559993"/>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0fbb97166b4fc8" /><Relationship Type="http://schemas.openxmlformats.org/officeDocument/2006/relationships/slideMaster" Target="/ppt/slideMasters/slideMaster1.xml" Id="R88d9d4bc44174bec" /><Relationship Type="http://schemas.openxmlformats.org/officeDocument/2006/relationships/notesMaster" Target="/ppt/notesMasters/notesMaster1.xml" Id="R7272804028eb4e01" /><Relationship Type="http://schemas.openxmlformats.org/officeDocument/2006/relationships/presProps" Target="/ppt/presProps.xml" Id="R380af7550aaa497f" /><Relationship Type="http://schemas.openxmlformats.org/officeDocument/2006/relationships/tableStyles" Target="/ppt/tableStyles.xml" Id="R0320d6b13e964049" /><Relationship Type="http://schemas.openxmlformats.org/officeDocument/2006/relationships/slide" Target="/ppt/slides/slide1.xml" Id="Re8f45385c478472e" /><Relationship Type="http://schemas.openxmlformats.org/officeDocument/2006/relationships/slide" Target="/ppt/slides/slide2.xml" Id="R572bd857c8124f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2fbdf2d13a48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abc1559d64441b" /><Relationship Type="http://schemas.openxmlformats.org/officeDocument/2006/relationships/notesMaster" Target="/ppt/notesMasters/notesMaster1.xml" Id="R392dcf28acbf41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83697a41d941ea" /><Relationship Type="http://schemas.openxmlformats.org/officeDocument/2006/relationships/notesMaster" Target="/ppt/notesMasters/notesMaster1.xml" Id="R0c199211e71f4d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Original copy and layout created for John and Isabel from the user's brief.</a:t>
            </a:r>
          </a:p>
          <a:p xmlns:a="http://schemas.openxmlformats.org/drawingml/2006/main">
            <a:r>
              <a:t>- TruShot colour palette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TruShot logo: /Users/johnherholdt/Library/Mobile Documents/com~apple~CloudDocs/Fearless/TruShot/2026 Rebranded Logo WIDE-g.png</a:t>
            </a:r>
          </a:p>
          <a:p xmlns:a="http://schemas.openxmlformats.org/drawingml/2006/main">
            <a:r>
              <a:t>- Original copy and layout created for John and Isabel from the user's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0bd3c4934f44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691aaad7204b88" /><Relationship Type="http://schemas.openxmlformats.org/officeDocument/2006/relationships/slideLayout" Target="/ppt/slideLayouts/slideLayout1.xml" Id="R7f6e923e075444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6e923e075444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ae5aa64ef34708" /><Relationship Type="http://schemas.openxmlformats.org/officeDocument/2006/relationships/notesSlide" Target="/ppt/notesSlides/notesSlide1.xml" Id="Rebf0ba014fc448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2bd59071a94c20" /><Relationship Type="http://schemas.openxmlformats.org/officeDocument/2006/relationships/image" Target="/ppt/media/image.png" Id="R16d8aa9282404638" /><Relationship Type="http://schemas.openxmlformats.org/officeDocument/2006/relationships/notesSlide" Target="/ppt/notesSlides/notesSlide2.xml" Id="Rc1589e3b41a14dca" /></Relationships>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8" name="front-accent-circle">
            <a:extLst xmlns:a="http://schemas.openxmlformats.org/drawingml/2006/main">
              <a:ext uri="{FF2B5EF4-FFF2-40B4-BE49-F238E27FC236}">
                <a16:creationId xmlns:a16="http://schemas.microsoft.com/office/drawing/2014/main" id="{7E6C8E86-C92D-44EF-B941-D85F7DD816FA}"/>
              </a:ext>
            </a:extLst>
          </p:cNvPr>
          <p:cNvSpPr>
            <a:spLocks xmlns:a="http://schemas.openxmlformats.org/drawingml/2006/main" noGrp="1"/>
          </p:cNvSpPr>
          <p:nvPr/>
        </p:nvSpPr>
        <p:spPr>
          <a:xfrm xmlns:a="http://schemas.openxmlformats.org/drawingml/2006/main">
            <a:off x="4048125" y="0"/>
            <a:ext cx="1276350" cy="1695450"/>
          </a:xfrm>
          <a:prstGeom xmlns:a="http://schemas.openxmlformats.org/drawingml/2006/main" prst="ellipse">
            <a:avLst/>
          </a:prstGeom>
          <a:solidFill xmlns:a="http://schemas.openxmlformats.org/drawingml/2006/main">
            <a:srgbClr val="1F6248"/>
          </a:solidFill>
          <a:ln xmlns:a="http://schemas.openxmlformats.org/drawingml/2006/main" w="0">
            <a:noFill/>
            <a:prstDash val="solid"/>
          </a:ln>
        </p:spPr>
      </p:sp>
      <p:sp>
        <p:nvSpPr>
          <p:cNvPr id="2" name="front-accent-block">
            <a:extLst xmlns:a="http://schemas.openxmlformats.org/drawingml/2006/main">
              <a:ext uri="{FF2B5EF4-FFF2-40B4-BE49-F238E27FC236}">
                <a16:creationId xmlns:a16="http://schemas.microsoft.com/office/drawing/2014/main" id="{EF2C12C1-4962-41F8-8BE5-E69E508E3072}"/>
              </a:ext>
            </a:extLst>
          </p:cNvPr>
          <p:cNvSpPr>
            <a:spLocks xmlns:a="http://schemas.openxmlformats.org/drawingml/2006/main" noGrp="1"/>
          </p:cNvSpPr>
          <p:nvPr/>
        </p:nvSpPr>
        <p:spPr>
          <a:xfrm xmlns:a="http://schemas.openxmlformats.org/drawingml/2006/main">
            <a:off x="3876675" y="1200150"/>
            <a:ext cx="1438275" cy="1028700"/>
          </a:xfrm>
          <a:prstGeom xmlns:a="http://schemas.openxmlformats.org/drawingml/2006/main" prst="roundRect">
            <a:avLst>
              <a:gd name="adj" fmla="val 7407"/>
            </a:avLst>
          </a:prstGeom>
          <a:solidFill xmlns:a="http://schemas.openxmlformats.org/drawingml/2006/main">
            <a:srgbClr val="D3DDD3"/>
          </a:solidFill>
          <a:ln xmlns:a="http://schemas.openxmlformats.org/drawingml/2006/main" w="0">
            <a:noFill/>
            <a:prstDash val="solid"/>
          </a:ln>
        </p:spPr>
      </p:sp>
      <p:sp>
        <p:nvSpPr>
          <p:cNvPr id="3" name="front-eyebrow">
            <a:extLst xmlns:a="http://schemas.openxmlformats.org/drawingml/2006/main">
              <a:ext uri="{FF2B5EF4-FFF2-40B4-BE49-F238E27FC236}">
                <a16:creationId xmlns:a16="http://schemas.microsoft.com/office/drawing/2014/main" id="{5A4A444F-42E5-4EA8-8648-EE6730F3AA7E}"/>
              </a:ext>
            </a:extLst>
          </p:cNvPr>
          <p:cNvSpPr>
            <a:spLocks xmlns:a="http://schemas.openxmlformats.org/drawingml/2006/main" noGrp="1"/>
          </p:cNvSpPr>
          <p:nvPr/>
        </p:nvSpPr>
        <p:spPr>
          <a:xfrm xmlns:a="http://schemas.openxmlformats.org/drawingml/2006/main">
            <a:off x="428625" y="495300"/>
            <a:ext cx="3095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13" b="1">
                <a:solidFill>
                  <a:srgbClr val="1F6248"/>
                </a:solidFill>
                <a:latin typeface="Arial"/>
                <a:ea typeface="Arial"/>
                <a:cs typeface="Arial"/>
              </a:defRPr>
            </a:pPr>
            <a:r>
              <a:rPr sz="1013" b="1">
                <a:solidFill>
                  <a:srgbClr val="1F6248"/>
                </a:solidFill>
                <a:latin typeface="Arial"/>
                <a:ea typeface="Arial"/>
                <a:cs typeface="Arial"/>
              </a:rPr>
              <a:t>A NOTE FROM YOUR NEW NEIGHBOURS</a:t>
            </a:r>
          </a:p>
        </p:txBody>
      </p:sp>
      <p:sp>
        <p:nvSpPr>
          <p:cNvPr id="4" name="front-rule">
            <a:extLst xmlns:a="http://schemas.openxmlformats.org/drawingml/2006/main">
              <a:ext uri="{FF2B5EF4-FFF2-40B4-BE49-F238E27FC236}">
                <a16:creationId xmlns:a16="http://schemas.microsoft.com/office/drawing/2014/main" id="{2DA9BAC5-5F19-4B6B-BF70-F7B23E786826}"/>
              </a:ext>
            </a:extLst>
          </p:cNvPr>
          <p:cNvSpPr>
            <a:spLocks xmlns:a="http://schemas.openxmlformats.org/drawingml/2006/main" noGrp="1"/>
          </p:cNvSpPr>
          <p:nvPr/>
        </p:nvSpPr>
        <p:spPr>
          <a:xfrm xmlns:a="http://schemas.openxmlformats.org/drawingml/2006/main">
            <a:off x="428625" y="752475"/>
            <a:ext cx="1123950" cy="19050"/>
          </a:xfrm>
          <a:prstGeom xmlns:a="http://schemas.openxmlformats.org/drawingml/2006/main" prst="rect">
            <a:avLst/>
          </a:prstGeom>
          <a:solidFill xmlns:a="http://schemas.openxmlformats.org/drawingml/2006/main">
            <a:srgbClr val="A8CFB9"/>
          </a:solidFill>
          <a:ln xmlns:a="http://schemas.openxmlformats.org/drawingml/2006/main" w="0">
            <a:noFill/>
            <a:prstDash val="solid"/>
          </a:ln>
        </p:spPr>
      </p:sp>
      <p:sp>
        <p:nvSpPr>
          <p:cNvPr id="5" name="front-hello">
            <a:extLst xmlns:a="http://schemas.openxmlformats.org/drawingml/2006/main">
              <a:ext uri="{FF2B5EF4-FFF2-40B4-BE49-F238E27FC236}">
                <a16:creationId xmlns:a16="http://schemas.microsoft.com/office/drawing/2014/main" id="{5948F84B-2998-48D1-B2FF-CCE77A73EF5D}"/>
              </a:ext>
            </a:extLst>
          </p:cNvPr>
          <p:cNvSpPr>
            <a:spLocks xmlns:a="http://schemas.openxmlformats.org/drawingml/2006/main" noGrp="1"/>
          </p:cNvSpPr>
          <p:nvPr/>
        </p:nvSpPr>
        <p:spPr>
          <a:xfrm xmlns:a="http://schemas.openxmlformats.org/drawingml/2006/main">
            <a:off x="428625" y="1362075"/>
            <a:ext cx="342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095"/>
          </a:bodyPr>
          <a:lstStyle xmlns:a="http://schemas.openxmlformats.org/drawingml/2006/main"/>
          <a:p xmlns:a="http://schemas.openxmlformats.org/drawingml/2006/main">
            <a:pPr algn="l">
              <a:defRPr sz="5250" b="1">
                <a:solidFill>
                  <a:srgbClr val="101511"/>
                </a:solidFill>
                <a:latin typeface="Arial"/>
                <a:ea typeface="Arial"/>
                <a:cs typeface="Arial"/>
              </a:defRPr>
            </a:pPr>
            <a:r>
              <a:rPr sz="5250" b="1">
                <a:solidFill>
                  <a:srgbClr val="101511"/>
                </a:solidFill>
                <a:latin typeface="Arial"/>
                <a:ea typeface="Arial"/>
                <a:cs typeface="Arial"/>
              </a:rPr>
              <a:t>HELLO,</a:t>
            </a:r>
          </a:p>
        </p:txBody>
      </p:sp>
      <p:sp>
        <p:nvSpPr>
          <p:cNvPr id="6" name="front-house">
            <a:extLst xmlns:a="http://schemas.openxmlformats.org/drawingml/2006/main">
              <a:ext uri="{FF2B5EF4-FFF2-40B4-BE49-F238E27FC236}">
                <a16:creationId xmlns:a16="http://schemas.microsoft.com/office/drawing/2014/main" id="{410695DC-97DE-43B1-9777-025F75BD5522}"/>
              </a:ext>
            </a:extLst>
          </p:cNvPr>
          <p:cNvSpPr>
            <a:spLocks xmlns:a="http://schemas.openxmlformats.org/drawingml/2006/main" noGrp="1"/>
          </p:cNvSpPr>
          <p:nvPr/>
        </p:nvSpPr>
        <p:spPr>
          <a:xfrm xmlns:a="http://schemas.openxmlformats.org/drawingml/2006/main">
            <a:off x="428625" y="2019300"/>
            <a:ext cx="3524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596"/>
          </a:bodyPr>
          <a:lstStyle xmlns:a="http://schemas.openxmlformats.org/drawingml/2006/main"/>
          <a:p xmlns:a="http://schemas.openxmlformats.org/drawingml/2006/main">
            <a:pPr algn="l">
              <a:defRPr sz="4950" b="1">
                <a:solidFill>
                  <a:srgbClr val="1F6248"/>
                </a:solidFill>
                <a:latin typeface="Arial"/>
                <a:ea typeface="Arial"/>
                <a:cs typeface="Arial"/>
              </a:defRPr>
            </a:pPr>
            <a:r>
              <a:rPr sz="4950" b="1">
                <a:solidFill>
                  <a:srgbClr val="1F6248"/>
                </a:solidFill>
                <a:latin typeface="Arial"/>
                <a:ea typeface="Arial"/>
                <a:cs typeface="Arial"/>
              </a:rPr>
              <a:t>HOUSE 13.</a:t>
            </a:r>
          </a:p>
        </p:txBody>
      </p:sp>
      <p:sp>
        <p:nvSpPr>
          <p:cNvPr id="7" name="front-intro">
            <a:extLst xmlns:a="http://schemas.openxmlformats.org/drawingml/2006/main">
              <a:ext uri="{FF2B5EF4-FFF2-40B4-BE49-F238E27FC236}">
                <a16:creationId xmlns:a16="http://schemas.microsoft.com/office/drawing/2014/main" id="{7CF5F28A-413C-4BBF-A46F-47EFAF1D9450}"/>
              </a:ext>
            </a:extLst>
          </p:cNvPr>
          <p:cNvSpPr>
            <a:spLocks xmlns:a="http://schemas.openxmlformats.org/drawingml/2006/main" noGrp="1"/>
          </p:cNvSpPr>
          <p:nvPr/>
        </p:nvSpPr>
        <p:spPr>
          <a:xfrm xmlns:a="http://schemas.openxmlformats.org/drawingml/2006/main">
            <a:off x="428625" y="2686050"/>
            <a:ext cx="4410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i="1">
                <a:solidFill>
                  <a:srgbClr val="101511"/>
                </a:solidFill>
                <a:latin typeface="Georgia"/>
                <a:ea typeface="Georgia"/>
                <a:cs typeface="Georgia"/>
              </a:defRPr>
            </a:pPr>
            <a:r>
              <a:rPr sz="1800" i="1">
                <a:solidFill>
                  <a:srgbClr val="101511"/>
                </a:solidFill>
                <a:latin typeface="Georgia"/>
                <a:ea typeface="Georgia"/>
                <a:cs typeface="Georgia"/>
              </a:rPr>
              <a:t>We're John + Isabel - and we're moving in.</a:t>
            </a:r>
          </a:p>
        </p:txBody>
      </p:sp>
      <p:sp>
        <p:nvSpPr>
          <p:cNvPr id="8" name="front-notice-card">
            <a:extLst xmlns:a="http://schemas.openxmlformats.org/drawingml/2006/main">
              <a:ext uri="{FF2B5EF4-FFF2-40B4-BE49-F238E27FC236}">
                <a16:creationId xmlns:a16="http://schemas.microsoft.com/office/drawing/2014/main" id="{DDD586AA-02CD-4761-BD7B-1ADE8D8D6179}"/>
              </a:ext>
            </a:extLst>
          </p:cNvPr>
          <p:cNvSpPr>
            <a:spLocks xmlns:a="http://schemas.openxmlformats.org/drawingml/2006/main" noGrp="1"/>
          </p:cNvSpPr>
          <p:nvPr/>
        </p:nvSpPr>
        <p:spPr>
          <a:xfrm xmlns:a="http://schemas.openxmlformats.org/drawingml/2006/main">
            <a:off x="428625" y="3209925"/>
            <a:ext cx="4467225" cy="1905000"/>
          </a:xfrm>
          <a:prstGeom xmlns:a="http://schemas.openxmlformats.org/drawingml/2006/main" prst="roundRect">
            <a:avLst>
              <a:gd name="adj" fmla="val 4000"/>
            </a:avLst>
          </a:prstGeom>
          <a:solidFill xmlns:a="http://schemas.openxmlformats.org/drawingml/2006/main">
            <a:srgbClr val="1F6248"/>
          </a:solidFill>
          <a:ln xmlns:a="http://schemas.openxmlformats.org/drawingml/2006/main" w="0">
            <a:noFill/>
            <a:prstDash val="solid"/>
          </a:ln>
        </p:spPr>
      </p:sp>
      <p:sp>
        <p:nvSpPr>
          <p:cNvPr id="9" name="front-date">
            <a:extLst xmlns:a="http://schemas.openxmlformats.org/drawingml/2006/main">
              <a:ext uri="{FF2B5EF4-FFF2-40B4-BE49-F238E27FC236}">
                <a16:creationId xmlns:a16="http://schemas.microsoft.com/office/drawing/2014/main" id="{39FB35BC-F811-424C-87D4-BE7197D4BB83}"/>
              </a:ext>
            </a:extLst>
          </p:cNvPr>
          <p:cNvSpPr>
            <a:spLocks xmlns:a="http://schemas.openxmlformats.org/drawingml/2006/main" noGrp="1"/>
          </p:cNvSpPr>
          <p:nvPr/>
        </p:nvSpPr>
        <p:spPr>
          <a:xfrm xmlns:a="http://schemas.openxmlformats.org/drawingml/2006/main">
            <a:off x="723900" y="3505200"/>
            <a:ext cx="37814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13" b="1">
                <a:solidFill>
                  <a:srgbClr val="A8CFB9"/>
                </a:solidFill>
                <a:latin typeface="Arial"/>
                <a:ea typeface="Arial"/>
                <a:cs typeface="Arial"/>
              </a:defRPr>
            </a:pPr>
            <a:r>
              <a:rPr sz="1013" b="1">
                <a:solidFill>
                  <a:srgbClr val="A8CFB9"/>
                </a:solidFill>
                <a:latin typeface="Arial"/>
                <a:ea typeface="Arial"/>
                <a:cs typeface="Arial"/>
              </a:rPr>
              <a:t>TUESDAY 1 SEPTEMBER 2026  /  AROUND 9:00AM</a:t>
            </a:r>
          </a:p>
        </p:txBody>
      </p:sp>
      <p:sp>
        <p:nvSpPr>
          <p:cNvPr id="10" name="front-notice-title">
            <a:extLst xmlns:a="http://schemas.openxmlformats.org/drawingml/2006/main">
              <a:ext uri="{FF2B5EF4-FFF2-40B4-BE49-F238E27FC236}">
                <a16:creationId xmlns:a16="http://schemas.microsoft.com/office/drawing/2014/main" id="{A2F18431-E892-440E-A1BC-2E9180FCB8D9}"/>
              </a:ext>
            </a:extLst>
          </p:cNvPr>
          <p:cNvSpPr>
            <a:spLocks xmlns:a="http://schemas.openxmlformats.org/drawingml/2006/main" noGrp="1"/>
          </p:cNvSpPr>
          <p:nvPr/>
        </p:nvSpPr>
        <p:spPr>
          <a:xfrm xmlns:a="http://schemas.openxmlformats.org/drawingml/2006/main">
            <a:off x="723900" y="3848100"/>
            <a:ext cx="35718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MOVING DAY NOTICE</a:t>
            </a:r>
          </a:p>
        </p:txBody>
      </p:sp>
      <p:sp>
        <p:nvSpPr>
          <p:cNvPr id="11" name="front-notice-copy">
            <a:extLst xmlns:a="http://schemas.openxmlformats.org/drawingml/2006/main">
              <a:ext uri="{FF2B5EF4-FFF2-40B4-BE49-F238E27FC236}">
                <a16:creationId xmlns:a16="http://schemas.microsoft.com/office/drawing/2014/main" id="{A57B19A8-E5F9-43FA-899F-4E89268E8945}"/>
              </a:ext>
            </a:extLst>
          </p:cNvPr>
          <p:cNvSpPr>
            <a:spLocks xmlns:a="http://schemas.openxmlformats.org/drawingml/2006/main" noGrp="1"/>
          </p:cNvSpPr>
          <p:nvPr/>
        </p:nvSpPr>
        <p:spPr>
          <a:xfrm xmlns:a="http://schemas.openxmlformats.org/drawingml/2006/main">
            <a:off x="723900" y="4305300"/>
            <a:ext cx="38195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596"/>
          </a:bodyPr>
          <a:lstStyle xmlns:a="http://schemas.openxmlformats.org/drawingml/2006/main"/>
          <a:p xmlns:a="http://schemas.openxmlformats.org/drawingml/2006/main">
            <a:pPr algn="l">
              <a:lnSpc>
                <a:spcPct val="110000"/>
              </a:lnSpc>
              <a:buNone/>
              <a:defRPr sz="1500">
                <a:solidFill>
                  <a:srgbClr val="FFFFFF"/>
                </a:solidFill>
                <a:latin typeface="Arial"/>
                <a:ea typeface="Arial"/>
                <a:cs typeface="Arial"/>
              </a:defRPr>
            </a:pPr>
            <a:r>
              <a:rPr sz="1500">
                <a:solidFill>
                  <a:srgbClr val="FFFFFF"/>
                </a:solidFill>
                <a:latin typeface="Arial"/>
                <a:ea typeface="Arial"/>
                <a:cs typeface="Arial"/>
              </a:rPr>
              <a:t>A moving truck will arrive while we unload. It may briefly block the space directly in front of House 13 for around one to two hours.</a:t>
            </a:r>
          </a:p>
        </p:txBody>
      </p:sp>
      <p:sp>
        <p:nvSpPr>
          <p:cNvPr id="12" name="front-community-copy">
            <a:extLst xmlns:a="http://schemas.openxmlformats.org/drawingml/2006/main">
              <a:ext uri="{FF2B5EF4-FFF2-40B4-BE49-F238E27FC236}">
                <a16:creationId xmlns:a16="http://schemas.microsoft.com/office/drawing/2014/main" id="{EA67A64B-1AF4-4CBD-8047-E01BD1EA13F7}"/>
              </a:ext>
            </a:extLst>
          </p:cNvPr>
          <p:cNvSpPr>
            <a:spLocks xmlns:a="http://schemas.openxmlformats.org/drawingml/2006/main" noGrp="1"/>
          </p:cNvSpPr>
          <p:nvPr/>
        </p:nvSpPr>
        <p:spPr>
          <a:xfrm xmlns:a="http://schemas.openxmlformats.org/drawingml/2006/main">
            <a:off x="428625" y="5343525"/>
            <a:ext cx="4467225"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601"/>
          </a:bodyPr>
          <a:lstStyle xmlns:a="http://schemas.openxmlformats.org/drawingml/2006/main"/>
          <a:p xmlns:a="http://schemas.openxmlformats.org/drawingml/2006/main">
            <a:pPr algn="l">
              <a:lnSpc>
                <a:spcPct val="112000"/>
              </a:lnSpc>
              <a:buNone/>
              <a:defRPr sz="1402">
                <a:solidFill>
                  <a:srgbClr val="667168"/>
                </a:solidFill>
                <a:latin typeface="Arial"/>
                <a:ea typeface="Arial"/>
                <a:cs typeface="Arial"/>
              </a:defRPr>
            </a:pPr>
            <a:r>
              <a:rPr sz="1402">
                <a:solidFill>
                  <a:srgbClr val="667168"/>
                </a:solidFill>
                <a:latin typeface="Arial"/>
                <a:ea typeface="Arial"/>
                <a:cs typeface="Arial"/>
              </a:rPr>
              <a:t>We're sorry for any inconvenience and wanted to give everyone plenty of notice. We're very excited to join this little community and begin this new chapter. We'll come around to introduce ourselves once we're settled in.</a:t>
            </a:r>
          </a:p>
        </p:txBody>
      </p:sp>
      <p:sp>
        <p:nvSpPr>
          <p:cNvPr id="13" name="front-contact-card">
            <a:extLst xmlns:a="http://schemas.openxmlformats.org/drawingml/2006/main">
              <a:ext uri="{FF2B5EF4-FFF2-40B4-BE49-F238E27FC236}">
                <a16:creationId xmlns:a16="http://schemas.microsoft.com/office/drawing/2014/main" id="{C36236DB-51DE-4612-9842-1C12A1EDD94D}"/>
              </a:ext>
            </a:extLst>
          </p:cNvPr>
          <p:cNvSpPr>
            <a:spLocks xmlns:a="http://schemas.openxmlformats.org/drawingml/2006/main" noGrp="1"/>
          </p:cNvSpPr>
          <p:nvPr/>
        </p:nvSpPr>
        <p:spPr>
          <a:xfrm xmlns:a="http://schemas.openxmlformats.org/drawingml/2006/main">
            <a:off x="428625" y="6238875"/>
            <a:ext cx="4467225"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0">
            <a:noFill/>
            <a:prstDash val="solid"/>
          </a:ln>
        </p:spPr>
      </p:sp>
      <p:sp>
        <p:nvSpPr>
          <p:cNvPr id="14" name="front-contact-label">
            <a:extLst xmlns:a="http://schemas.openxmlformats.org/drawingml/2006/main">
              <a:ext uri="{FF2B5EF4-FFF2-40B4-BE49-F238E27FC236}">
                <a16:creationId xmlns:a16="http://schemas.microsoft.com/office/drawing/2014/main" id="{40AC2DE7-EA51-44FA-9D44-87F198757D29}"/>
              </a:ext>
            </a:extLst>
          </p:cNvPr>
          <p:cNvSpPr>
            <a:spLocks xmlns:a="http://schemas.openxmlformats.org/drawingml/2006/main" noGrp="1"/>
          </p:cNvSpPr>
          <p:nvPr/>
        </p:nvSpPr>
        <p:spPr>
          <a:xfrm xmlns:a="http://schemas.openxmlformats.org/drawingml/2006/main">
            <a:off x="676275" y="6448425"/>
            <a:ext cx="2324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13" b="1">
                <a:solidFill>
                  <a:srgbClr val="1F6248"/>
                </a:solidFill>
                <a:latin typeface="Arial"/>
                <a:ea typeface="Arial"/>
                <a:cs typeface="Arial"/>
              </a:defRPr>
            </a:pPr>
            <a:r>
              <a:rPr sz="1013" b="1">
                <a:solidFill>
                  <a:srgbClr val="1F6248"/>
                </a:solidFill>
                <a:latin typeface="Arial"/>
                <a:ea typeface="Arial"/>
                <a:cs typeface="Arial"/>
              </a:rPr>
              <a:t>NEED TO REACH US?</a:t>
            </a:r>
          </a:p>
        </p:txBody>
      </p:sp>
      <p:sp>
        <p:nvSpPr>
          <p:cNvPr id="15" name="front-contact-number">
            <a:extLst xmlns:a="http://schemas.openxmlformats.org/drawingml/2006/main">
              <a:ext uri="{FF2B5EF4-FFF2-40B4-BE49-F238E27FC236}">
                <a16:creationId xmlns:a16="http://schemas.microsoft.com/office/drawing/2014/main" id="{BC064DB3-64CE-459F-B128-B52571CF207B}"/>
              </a:ext>
            </a:extLst>
          </p:cNvPr>
          <p:cNvSpPr>
            <a:spLocks xmlns:a="http://schemas.openxmlformats.org/drawingml/2006/main" noGrp="1"/>
          </p:cNvSpPr>
          <p:nvPr/>
        </p:nvSpPr>
        <p:spPr>
          <a:xfrm xmlns:a="http://schemas.openxmlformats.org/drawingml/2006/main">
            <a:off x="676275" y="67437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01511"/>
                </a:solidFill>
                <a:latin typeface="Arial"/>
                <a:ea typeface="Arial"/>
                <a:cs typeface="Arial"/>
              </a:defRPr>
            </a:pPr>
            <a:r>
              <a:rPr sz="1875" b="1">
                <a:solidFill>
                  <a:srgbClr val="101511"/>
                </a:solidFill>
                <a:latin typeface="Arial"/>
                <a:ea typeface="Arial"/>
                <a:cs typeface="Arial"/>
              </a:rPr>
              <a:t>John  /  04XX XXX XXX</a:t>
            </a:r>
          </a:p>
        </p:txBody>
      </p:sp>
      <p:sp>
        <p:nvSpPr>
          <p:cNvPr id="16" name="front-house-badge">
            <a:extLst xmlns:a="http://schemas.openxmlformats.org/drawingml/2006/main">
              <a:ext uri="{FF2B5EF4-FFF2-40B4-BE49-F238E27FC236}">
                <a16:creationId xmlns:a16="http://schemas.microsoft.com/office/drawing/2014/main" id="{F2A3858A-A971-4F53-8FB1-33C4CD7760A2}"/>
              </a:ext>
            </a:extLst>
          </p:cNvPr>
          <p:cNvSpPr>
            <a:spLocks xmlns:a="http://schemas.openxmlformats.org/drawingml/2006/main" noGrp="1"/>
          </p:cNvSpPr>
          <p:nvPr/>
        </p:nvSpPr>
        <p:spPr>
          <a:xfrm xmlns:a="http://schemas.openxmlformats.org/drawingml/2006/main">
            <a:off x="4276725" y="6467475"/>
            <a:ext cx="428625" cy="428625"/>
          </a:xfrm>
          <a:prstGeom xmlns:a="http://schemas.openxmlformats.org/drawingml/2006/main" prst="ellipse">
            <a:avLst/>
          </a:prstGeom>
          <a:solidFill xmlns:a="http://schemas.openxmlformats.org/drawingml/2006/main">
            <a:srgbClr val="1F6248"/>
          </a:solidFill>
          <a:ln xmlns:a="http://schemas.openxmlformats.org/drawingml/2006/main" w="0">
            <a:noFill/>
            <a:prstDash val="solid"/>
          </a:ln>
        </p:spPr>
      </p:sp>
      <p:sp>
        <p:nvSpPr>
          <p:cNvPr id="17" name="front-house-badge-number">
            <a:extLst xmlns:a="http://schemas.openxmlformats.org/drawingml/2006/main">
              <a:ext uri="{FF2B5EF4-FFF2-40B4-BE49-F238E27FC236}">
                <a16:creationId xmlns:a16="http://schemas.microsoft.com/office/drawing/2014/main" id="{7FA0E0DD-2726-46D0-A60D-24855BC289C3}"/>
              </a:ext>
            </a:extLst>
          </p:cNvPr>
          <p:cNvSpPr>
            <a:spLocks xmlns:a="http://schemas.openxmlformats.org/drawingml/2006/main" noGrp="1"/>
          </p:cNvSpPr>
          <p:nvPr/>
        </p:nvSpPr>
        <p:spPr>
          <a:xfrm xmlns:a="http://schemas.openxmlformats.org/drawingml/2006/main">
            <a:off x="4276725" y="658177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13</a:t>
            </a:r>
          </a:p>
        </p:txBody>
      </p:sp>
    </p:spTree>
    <p:extLst>
      <p:ext uri="{BB962C8B-B14F-4D97-AF65-F5344CB8AC3E}">
        <p14:creationId xmlns:p14="http://schemas.microsoft.com/office/powerpoint/2010/main" val="1416951686"/>
      </p:ext>
    </p:extLst>
  </p:cSld>
</p:sld>
</file>

<file path=ppt/slides/slide2.xml><?xml version="1.0" encoding="utf-8"?>
<p:sld xmlns:p="http://schemas.openxmlformats.org/presentationml/2006/main">
  <p:cSld>
    <p:bg>
      <p:bgPr>
        <a:solidFill xmlns:a="http://schemas.openxmlformats.org/drawingml/2006/main">
          <a:srgbClr val="0D3F2E"/>
        </a:solidFill>
      </p:bgPr>
    </p:bg>
    <p:spTree>
      <p:nvGrpSpPr>
        <p:cNvPr id="1" name=""/>
        <p:cNvGrpSpPr/>
        <p:nvPr/>
      </p:nvGrpSpPr>
      <p:grpSpPr>
        <a:xfrm xmlns:a="http://schemas.openxmlformats.org/drawingml/2006/main"/>
      </p:grpSpPr>
      <p:sp>
        <p:nvSpPr>
          <p:cNvPr id="19" name="back-accent-circle">
            <a:extLst xmlns:a="http://schemas.openxmlformats.org/drawingml/2006/main">
              <a:ext uri="{FF2B5EF4-FFF2-40B4-BE49-F238E27FC236}">
                <a16:creationId xmlns:a16="http://schemas.microsoft.com/office/drawing/2014/main" id="{D464919D-954B-4E1C-ADA0-E0F9C7945FA6}"/>
              </a:ext>
            </a:extLst>
          </p:cNvPr>
          <p:cNvSpPr>
            <a:spLocks xmlns:a="http://schemas.openxmlformats.org/drawingml/2006/main" noGrp="1"/>
          </p:cNvSpPr>
          <p:nvPr/>
        </p:nvSpPr>
        <p:spPr>
          <a:xfrm xmlns:a="http://schemas.openxmlformats.org/drawingml/2006/main">
            <a:off x="0" y="0"/>
            <a:ext cx="1190625" cy="1152525"/>
          </a:xfrm>
          <a:prstGeom xmlns:a="http://schemas.openxmlformats.org/drawingml/2006/main" prst="ellipse">
            <a:avLst/>
          </a:prstGeom>
          <a:solidFill xmlns:a="http://schemas.openxmlformats.org/drawingml/2006/main">
            <a:srgbClr val="A8CFB9"/>
          </a:solidFill>
          <a:ln xmlns:a="http://schemas.openxmlformats.org/drawingml/2006/main" w="0">
            <a:noFill/>
            <a:prstDash val="solid"/>
          </a:ln>
        </p:spPr>
      </p:sp>
      <p:sp>
        <p:nvSpPr>
          <p:cNvPr id="2" name="back-outline-circle">
            <a:extLst xmlns:a="http://schemas.openxmlformats.org/drawingml/2006/main">
              <a:ext uri="{FF2B5EF4-FFF2-40B4-BE49-F238E27FC236}">
                <a16:creationId xmlns:a16="http://schemas.microsoft.com/office/drawing/2014/main" id="{50B7C05F-D7A4-40AD-9252-EB9355C53B71}"/>
              </a:ext>
            </a:extLst>
          </p:cNvPr>
          <p:cNvSpPr>
            <a:spLocks xmlns:a="http://schemas.openxmlformats.org/drawingml/2006/main" noGrp="1"/>
          </p:cNvSpPr>
          <p:nvPr/>
        </p:nvSpPr>
        <p:spPr>
          <a:xfrm xmlns:a="http://schemas.openxmlformats.org/drawingml/2006/main">
            <a:off x="3781425" y="180975"/>
            <a:ext cx="1543050" cy="2705100"/>
          </a:xfrm>
          <a:prstGeom xmlns:a="http://schemas.openxmlformats.org/drawingml/2006/main" prst="ellipse">
            <a:avLst/>
          </a:prstGeom>
          <a:noFill xmlns:a="http://schemas.openxmlformats.org/drawingml/2006/main"/>
          <a:ln xmlns:a="http://schemas.openxmlformats.org/drawingml/2006/main" w="9525">
            <a:solidFill>
              <a:srgbClr val="A8CFB9"/>
            </a:solidFill>
            <a:prstDash val="solid"/>
          </a:ln>
        </p:spPr>
      </p:sp>
      <p:sp>
        <p:nvSpPr>
          <p:cNvPr id="3" name="back-eyebrow">
            <a:extLst xmlns:a="http://schemas.openxmlformats.org/drawingml/2006/main">
              <a:ext uri="{FF2B5EF4-FFF2-40B4-BE49-F238E27FC236}">
                <a16:creationId xmlns:a16="http://schemas.microsoft.com/office/drawing/2014/main" id="{97C9EB5E-B56C-4F32-8C5E-74BA9A889F68}"/>
              </a:ext>
            </a:extLst>
          </p:cNvPr>
          <p:cNvSpPr>
            <a:spLocks xmlns:a="http://schemas.openxmlformats.org/drawingml/2006/main" noGrp="1"/>
          </p:cNvSpPr>
          <p:nvPr/>
        </p:nvSpPr>
        <p:spPr>
          <a:xfrm xmlns:a="http://schemas.openxmlformats.org/drawingml/2006/main">
            <a:off x="428625" y="495300"/>
            <a:ext cx="3028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13" b="1">
                <a:solidFill>
                  <a:srgbClr val="FFFFFF"/>
                </a:solidFill>
                <a:latin typeface="Arial"/>
                <a:ea typeface="Arial"/>
                <a:cs typeface="Arial"/>
              </a:defRPr>
            </a:pPr>
            <a:r>
              <a:rPr sz="1013" b="1">
                <a:solidFill>
                  <a:srgbClr val="FFFFFF"/>
                </a:solidFill>
                <a:latin typeface="Arial"/>
                <a:ea typeface="Arial"/>
                <a:cs typeface="Arial"/>
              </a:rPr>
              <a:t>THE PEOPLE BEHIND THE BOXES</a:t>
            </a:r>
          </a:p>
        </p:txBody>
      </p:sp>
      <p:sp>
        <p:nvSpPr>
          <p:cNvPr id="4" name="back-heading">
            <a:extLst xmlns:a="http://schemas.openxmlformats.org/drawingml/2006/main">
              <a:ext uri="{FF2B5EF4-FFF2-40B4-BE49-F238E27FC236}">
                <a16:creationId xmlns:a16="http://schemas.microsoft.com/office/drawing/2014/main" id="{2442614E-F5F1-4EEB-988B-FF08C2CCADE5}"/>
              </a:ext>
            </a:extLst>
          </p:cNvPr>
          <p:cNvSpPr>
            <a:spLocks xmlns:a="http://schemas.openxmlformats.org/drawingml/2006/main" noGrp="1"/>
          </p:cNvSpPr>
          <p:nvPr/>
        </p:nvSpPr>
        <p:spPr>
          <a:xfrm xmlns:a="http://schemas.openxmlformats.org/drawingml/2006/main">
            <a:off x="428625" y="1133475"/>
            <a:ext cx="3333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530"/>
          </a:bodyPr>
          <a:lstStyle xmlns:a="http://schemas.openxmlformats.org/drawingml/2006/main"/>
          <a:p xmlns:a="http://schemas.openxmlformats.org/drawingml/2006/main">
            <a:pPr algn="l">
              <a:defRPr sz="4575" b="1">
                <a:solidFill>
                  <a:srgbClr val="FFFFFF"/>
                </a:solidFill>
                <a:latin typeface="Arial"/>
                <a:ea typeface="Arial"/>
                <a:cs typeface="Arial"/>
              </a:defRPr>
            </a:pPr>
            <a:r>
              <a:rPr sz="4575" b="1">
                <a:solidFill>
                  <a:srgbClr val="FFFFFF"/>
                </a:solidFill>
                <a:latin typeface="Arial"/>
                <a:ea typeface="Arial"/>
                <a:cs typeface="Arial"/>
              </a:rPr>
              <a:t>A LITTLE</a:t>
            </a:r>
          </a:p>
        </p:txBody>
      </p:sp>
      <p:sp>
        <p:nvSpPr>
          <p:cNvPr id="5" name="back-heading-script">
            <a:extLst xmlns:a="http://schemas.openxmlformats.org/drawingml/2006/main">
              <a:ext uri="{FF2B5EF4-FFF2-40B4-BE49-F238E27FC236}">
                <a16:creationId xmlns:a16="http://schemas.microsoft.com/office/drawing/2014/main" id="{52D8992E-3826-4BB1-83B5-EA89E9BA1B47}"/>
              </a:ext>
            </a:extLst>
          </p:cNvPr>
          <p:cNvSpPr>
            <a:spLocks xmlns:a="http://schemas.openxmlformats.org/drawingml/2006/main" noGrp="1"/>
          </p:cNvSpPr>
          <p:nvPr/>
        </p:nvSpPr>
        <p:spPr>
          <a:xfrm xmlns:a="http://schemas.openxmlformats.org/drawingml/2006/main">
            <a:off x="428625" y="1676400"/>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61"/>
          </a:bodyPr>
          <a:lstStyle xmlns:a="http://schemas.openxmlformats.org/drawingml/2006/main"/>
          <a:p xmlns:a="http://schemas.openxmlformats.org/drawingml/2006/main">
            <a:pPr algn="l">
              <a:defRPr sz="4575" i="1">
                <a:solidFill>
                  <a:srgbClr val="A8CFB9"/>
                </a:solidFill>
                <a:latin typeface="Georgia"/>
                <a:ea typeface="Georgia"/>
                <a:cs typeface="Georgia"/>
              </a:defRPr>
            </a:pPr>
            <a:r>
              <a:rPr sz="4575" i="1">
                <a:solidFill>
                  <a:srgbClr val="A8CFB9"/>
                </a:solidFill>
                <a:latin typeface="Georgia"/>
                <a:ea typeface="Georgia"/>
                <a:cs typeface="Georgia"/>
              </a:rPr>
              <a:t>about us.</a:t>
            </a:r>
          </a:p>
        </p:txBody>
      </p:sp>
      <p:sp>
        <p:nvSpPr>
          <p:cNvPr id="6" name="back-intro-copy">
            <a:extLst xmlns:a="http://schemas.openxmlformats.org/drawingml/2006/main">
              <a:ext uri="{FF2B5EF4-FFF2-40B4-BE49-F238E27FC236}">
                <a16:creationId xmlns:a16="http://schemas.microsoft.com/office/drawing/2014/main" id="{F19D21DF-F3B7-4001-9FFC-9E178040E6D4}"/>
              </a:ext>
            </a:extLst>
          </p:cNvPr>
          <p:cNvSpPr>
            <a:spLocks xmlns:a="http://schemas.openxmlformats.org/drawingml/2006/main" noGrp="1"/>
          </p:cNvSpPr>
          <p:nvPr/>
        </p:nvSpPr>
        <p:spPr>
          <a:xfrm xmlns:a="http://schemas.openxmlformats.org/drawingml/2006/main">
            <a:off x="428625" y="2362200"/>
            <a:ext cx="44672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513"/>
          </a:bodyPr>
          <a:lstStyle xmlns:a="http://schemas.openxmlformats.org/drawingml/2006/main"/>
          <a:p xmlns:a="http://schemas.openxmlformats.org/drawingml/2006/main">
            <a:pPr algn="l">
              <a:lnSpc>
                <a:spcPct val="110000"/>
              </a:lnSpc>
              <a:buNone/>
              <a:defRPr sz="1440">
                <a:solidFill>
                  <a:srgbClr val="FFFFFF"/>
                </a:solidFill>
                <a:latin typeface="Arial"/>
                <a:ea typeface="Arial"/>
                <a:cs typeface="Arial"/>
              </a:defRPr>
            </a:pPr>
            <a:r>
              <a:rPr sz="1440">
                <a:solidFill>
                  <a:srgbClr val="FFFFFF"/>
                </a:solidFill>
                <a:latin typeface="Arial"/>
                <a:ea typeface="Arial"/>
                <a:cs typeface="Arial"/>
              </a:rPr>
              <a:t>We're John and Isabel, and we're excited to make House 13 home. We're looking forward to meeting the people around us, becoming part of the neighbourhood and sharing this new chapter together. Please feel free to say hello whenever you see us.</a:t>
            </a:r>
          </a:p>
        </p:txBody>
      </p:sp>
      <p:sp>
        <p:nvSpPr>
          <p:cNvPr id="7" name="john-card">
            <a:extLst xmlns:a="http://schemas.openxmlformats.org/drawingml/2006/main">
              <a:ext uri="{FF2B5EF4-FFF2-40B4-BE49-F238E27FC236}">
                <a16:creationId xmlns:a16="http://schemas.microsoft.com/office/drawing/2014/main" id="{5A474B87-2417-491D-A4B1-7C289962FFE3}"/>
              </a:ext>
            </a:extLst>
          </p:cNvPr>
          <p:cNvSpPr>
            <a:spLocks xmlns:a="http://schemas.openxmlformats.org/drawingml/2006/main" noGrp="1"/>
          </p:cNvSpPr>
          <p:nvPr/>
        </p:nvSpPr>
        <p:spPr>
          <a:xfrm xmlns:a="http://schemas.openxmlformats.org/drawingml/2006/main">
            <a:off x="428625" y="3343275"/>
            <a:ext cx="2162175" cy="1847850"/>
          </a:xfrm>
          <a:prstGeom xmlns:a="http://schemas.openxmlformats.org/drawingml/2006/main" prst="roundRect">
            <a:avLst>
              <a:gd name="adj" fmla="val 4124"/>
            </a:avLst>
          </a:prstGeom>
          <a:solidFill xmlns:a="http://schemas.openxmlformats.org/drawingml/2006/main">
            <a:srgbClr val="215C47"/>
          </a:solidFill>
          <a:ln xmlns:a="http://schemas.openxmlformats.org/drawingml/2006/main" w="9525">
            <a:solidFill>
              <a:srgbClr val="487963"/>
            </a:solidFill>
            <a:prstDash val="solid"/>
          </a:ln>
        </p:spPr>
      </p:sp>
      <p:sp>
        <p:nvSpPr>
          <p:cNvPr id="8" name="john-name">
            <a:extLst xmlns:a="http://schemas.openxmlformats.org/drawingml/2006/main">
              <a:ext uri="{FF2B5EF4-FFF2-40B4-BE49-F238E27FC236}">
                <a16:creationId xmlns:a16="http://schemas.microsoft.com/office/drawing/2014/main" id="{9D35772B-FEE9-48F4-B0A0-E04400F4B91C}"/>
              </a:ext>
            </a:extLst>
          </p:cNvPr>
          <p:cNvSpPr>
            <a:spLocks xmlns:a="http://schemas.openxmlformats.org/drawingml/2006/main" noGrp="1"/>
          </p:cNvSpPr>
          <p:nvPr/>
        </p:nvSpPr>
        <p:spPr>
          <a:xfrm xmlns:a="http://schemas.openxmlformats.org/drawingml/2006/main">
            <a:off x="647700" y="3648075"/>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defRPr sz="2175" b="1">
                <a:solidFill>
                  <a:srgbClr val="A8CFB9"/>
                </a:solidFill>
                <a:latin typeface="Arial"/>
                <a:ea typeface="Arial"/>
                <a:cs typeface="Arial"/>
              </a:defRPr>
            </a:pPr>
            <a:r>
              <a:rPr sz="2175" b="1">
                <a:solidFill>
                  <a:srgbClr val="A8CFB9"/>
                </a:solidFill>
                <a:latin typeface="Arial"/>
                <a:ea typeface="Arial"/>
                <a:cs typeface="Arial"/>
              </a:rPr>
              <a:t>JOHN</a:t>
            </a:r>
          </a:p>
        </p:txBody>
      </p:sp>
      <p:sp>
        <p:nvSpPr>
          <p:cNvPr id="9" name="john-copy">
            <a:extLst xmlns:a="http://schemas.openxmlformats.org/drawingml/2006/main">
              <a:ext uri="{FF2B5EF4-FFF2-40B4-BE49-F238E27FC236}">
                <a16:creationId xmlns:a16="http://schemas.microsoft.com/office/drawing/2014/main" id="{3D64918A-8044-47EE-A19E-5C4C19CF46C7}"/>
              </a:ext>
            </a:extLst>
          </p:cNvPr>
          <p:cNvSpPr>
            <a:spLocks xmlns:a="http://schemas.openxmlformats.org/drawingml/2006/main" noGrp="1"/>
          </p:cNvSpPr>
          <p:nvPr/>
        </p:nvSpPr>
        <p:spPr>
          <a:xfrm xmlns:a="http://schemas.openxmlformats.org/drawingml/2006/main">
            <a:off x="647700" y="4067175"/>
            <a:ext cx="17240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887"/>
          </a:bodyPr>
          <a:lstStyle xmlns:a="http://schemas.openxmlformats.org/drawingml/2006/main"/>
          <a:p xmlns:a="http://schemas.openxmlformats.org/drawingml/2006/main">
            <a:pPr algn="l">
              <a:lnSpc>
                <a:spcPct val="112000"/>
              </a:lnSpc>
              <a:buNone/>
              <a:defRPr sz="1425">
                <a:solidFill>
                  <a:srgbClr val="FFFFFF"/>
                </a:solidFill>
                <a:latin typeface="Arial"/>
                <a:ea typeface="Arial"/>
                <a:cs typeface="Arial"/>
              </a:defRPr>
            </a:pPr>
            <a:r>
              <a:rPr sz="1425">
                <a:solidFill>
                  <a:srgbClr val="FFFFFF"/>
                </a:solidFill>
                <a:latin typeface="Arial"/>
                <a:ea typeface="Arial"/>
                <a:cs typeface="Arial"/>
              </a:rPr>
              <a:t>A creative filmmaker and founder of TruShot Media. Usually thinking about stories, cameras and the next idea.</a:t>
            </a:r>
          </a:p>
        </p:txBody>
      </p:sp>
      <p:sp>
        <p:nvSpPr>
          <p:cNvPr id="10" name="isabel-card">
            <a:extLst xmlns:a="http://schemas.openxmlformats.org/drawingml/2006/main">
              <a:ext uri="{FF2B5EF4-FFF2-40B4-BE49-F238E27FC236}">
                <a16:creationId xmlns:a16="http://schemas.microsoft.com/office/drawing/2014/main" id="{F4F1A043-AF14-4C65-B488-B5A15489AC62}"/>
              </a:ext>
            </a:extLst>
          </p:cNvPr>
          <p:cNvSpPr>
            <a:spLocks xmlns:a="http://schemas.openxmlformats.org/drawingml/2006/main" noGrp="1"/>
          </p:cNvSpPr>
          <p:nvPr/>
        </p:nvSpPr>
        <p:spPr>
          <a:xfrm xmlns:a="http://schemas.openxmlformats.org/drawingml/2006/main">
            <a:off x="2733675" y="3343275"/>
            <a:ext cx="2162175" cy="1847850"/>
          </a:xfrm>
          <a:prstGeom xmlns:a="http://schemas.openxmlformats.org/drawingml/2006/main" prst="roundRect">
            <a:avLst>
              <a:gd name="adj" fmla="val 4124"/>
            </a:avLst>
          </a:prstGeom>
          <a:solidFill xmlns:a="http://schemas.openxmlformats.org/drawingml/2006/main">
            <a:srgbClr val="215C47"/>
          </a:solidFill>
          <a:ln xmlns:a="http://schemas.openxmlformats.org/drawingml/2006/main" w="9525">
            <a:solidFill>
              <a:srgbClr val="487963"/>
            </a:solidFill>
            <a:prstDash val="solid"/>
          </a:ln>
        </p:spPr>
      </p:sp>
      <p:sp>
        <p:nvSpPr>
          <p:cNvPr id="11" name="isabel-name">
            <a:extLst xmlns:a="http://schemas.openxmlformats.org/drawingml/2006/main">
              <a:ext uri="{FF2B5EF4-FFF2-40B4-BE49-F238E27FC236}">
                <a16:creationId xmlns:a16="http://schemas.microsoft.com/office/drawing/2014/main" id="{8F04E4C4-0544-42A8-8DA8-15B180786940}"/>
              </a:ext>
            </a:extLst>
          </p:cNvPr>
          <p:cNvSpPr>
            <a:spLocks xmlns:a="http://schemas.openxmlformats.org/drawingml/2006/main" noGrp="1"/>
          </p:cNvSpPr>
          <p:nvPr/>
        </p:nvSpPr>
        <p:spPr>
          <a:xfrm xmlns:a="http://schemas.openxmlformats.org/drawingml/2006/main">
            <a:off x="2952750" y="3648075"/>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defRPr sz="2175" b="1">
                <a:solidFill>
                  <a:srgbClr val="A8CFB9"/>
                </a:solidFill>
                <a:latin typeface="Arial"/>
                <a:ea typeface="Arial"/>
                <a:cs typeface="Arial"/>
              </a:defRPr>
            </a:pPr>
            <a:r>
              <a:rPr sz="2175" b="1">
                <a:solidFill>
                  <a:srgbClr val="A8CFB9"/>
                </a:solidFill>
                <a:latin typeface="Arial"/>
                <a:ea typeface="Arial"/>
                <a:cs typeface="Arial"/>
              </a:rPr>
              <a:t>ISABEL</a:t>
            </a:r>
          </a:p>
        </p:txBody>
      </p:sp>
      <p:sp>
        <p:nvSpPr>
          <p:cNvPr id="12" name="isabel-copy">
            <a:extLst xmlns:a="http://schemas.openxmlformats.org/drawingml/2006/main">
              <a:ext uri="{FF2B5EF4-FFF2-40B4-BE49-F238E27FC236}">
                <a16:creationId xmlns:a16="http://schemas.microsoft.com/office/drawing/2014/main" id="{35454BCD-4F6E-4D7F-91C4-FCE990599FD4}"/>
              </a:ext>
            </a:extLst>
          </p:cNvPr>
          <p:cNvSpPr>
            <a:spLocks xmlns:a="http://schemas.openxmlformats.org/drawingml/2006/main" noGrp="1"/>
          </p:cNvSpPr>
          <p:nvPr/>
        </p:nvSpPr>
        <p:spPr>
          <a:xfrm xmlns:a="http://schemas.openxmlformats.org/drawingml/2006/main">
            <a:off x="2952750" y="4067175"/>
            <a:ext cx="17240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887"/>
          </a:bodyPr>
          <a:lstStyle xmlns:a="http://schemas.openxmlformats.org/drawingml/2006/main"/>
          <a:p xmlns:a="http://schemas.openxmlformats.org/drawingml/2006/main">
            <a:pPr algn="l">
              <a:lnSpc>
                <a:spcPct val="112000"/>
              </a:lnSpc>
              <a:buNone/>
              <a:defRPr sz="1425">
                <a:solidFill>
                  <a:srgbClr val="FFFFFF"/>
                </a:solidFill>
                <a:latin typeface="Arial"/>
                <a:ea typeface="Arial"/>
                <a:cs typeface="Arial"/>
              </a:defRPr>
            </a:pPr>
            <a:r>
              <a:rPr sz="1425">
                <a:solidFill>
                  <a:srgbClr val="FFFFFF"/>
                </a:solidFill>
                <a:latin typeface="Arial"/>
                <a:ea typeface="Arial"/>
                <a:cs typeface="Arial"/>
              </a:rPr>
              <a:t>Equally excited for the move, the new neighbourhood and all the little moments that make a place feel like home.</a:t>
            </a:r>
          </a:p>
        </p:txBody>
      </p:sp>
      <p:sp>
        <p:nvSpPr>
          <p:cNvPr id="13" name="back-trushot-card">
            <a:extLst xmlns:a="http://schemas.openxmlformats.org/drawingml/2006/main">
              <a:ext uri="{FF2B5EF4-FFF2-40B4-BE49-F238E27FC236}">
                <a16:creationId xmlns:a16="http://schemas.microsoft.com/office/drawing/2014/main" id="{81214DFD-B14B-408F-B3D8-A4F1EA250D01}"/>
              </a:ext>
            </a:extLst>
          </p:cNvPr>
          <p:cNvSpPr>
            <a:spLocks xmlns:a="http://schemas.openxmlformats.org/drawingml/2006/main" noGrp="1"/>
          </p:cNvSpPr>
          <p:nvPr/>
        </p:nvSpPr>
        <p:spPr>
          <a:xfrm xmlns:a="http://schemas.openxmlformats.org/drawingml/2006/main">
            <a:off x="428625" y="5353050"/>
            <a:ext cx="4467225" cy="1781175"/>
          </a:xfrm>
          <a:prstGeom xmlns:a="http://schemas.openxmlformats.org/drawingml/2006/main" prst="roundRect">
            <a:avLst>
              <a:gd name="adj" fmla="val 4278"/>
            </a:avLst>
          </a:prstGeom>
          <a:solidFill xmlns:a="http://schemas.openxmlformats.org/drawingml/2006/main">
            <a:srgbClr val="F5F2E9"/>
          </a:solidFill>
          <a:ln xmlns:a="http://schemas.openxmlformats.org/drawingml/2006/main" w="0">
            <a:no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16d8aa9282404638"/>
          <a:stretch xmlns:a="http://schemas.openxmlformats.org/drawingml/2006/main"/>
        </p:blipFill>
        <p:spPr>
          <a:xfrm xmlns:a="http://schemas.openxmlformats.org/drawingml/2006/main">
            <a:off x="657225" y="5767578"/>
            <a:ext cx="1714500" cy="637794"/>
          </a:xfrm>
          <a:prstGeom xmlns:a="http://schemas.openxmlformats.org/drawingml/2006/main" prst="rect">
            <a:avLst/>
          </a:prstGeom>
        </p:spPr>
      </p:pic>
      <p:sp>
        <p:nvSpPr>
          <p:cNvPr id="15" name="back-trushot-title">
            <a:extLst xmlns:a="http://schemas.openxmlformats.org/drawingml/2006/main">
              <a:ext uri="{FF2B5EF4-FFF2-40B4-BE49-F238E27FC236}">
                <a16:creationId xmlns:a16="http://schemas.microsoft.com/office/drawing/2014/main" id="{E40DAF7F-4540-459A-853E-09B05DC23185}"/>
              </a:ext>
            </a:extLst>
          </p:cNvPr>
          <p:cNvSpPr>
            <a:spLocks xmlns:a="http://schemas.openxmlformats.org/drawingml/2006/main" noGrp="1"/>
          </p:cNvSpPr>
          <p:nvPr/>
        </p:nvSpPr>
        <p:spPr>
          <a:xfrm xmlns:a="http://schemas.openxmlformats.org/drawingml/2006/main">
            <a:off x="2628900" y="5800725"/>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772"/>
          </a:bodyPr>
          <a:lstStyle xmlns:a="http://schemas.openxmlformats.org/drawingml/2006/main"/>
          <a:p xmlns:a="http://schemas.openxmlformats.org/drawingml/2006/main">
            <a:pPr algn="l">
              <a:defRPr sz="1725" b="1">
                <a:solidFill>
                  <a:srgbClr val="101511"/>
                </a:solidFill>
                <a:latin typeface="Arial"/>
                <a:ea typeface="Arial"/>
                <a:cs typeface="Arial"/>
              </a:defRPr>
            </a:pPr>
            <a:r>
              <a:rPr sz="1725" b="1">
                <a:solidFill>
                  <a:srgbClr val="101511"/>
                </a:solidFill>
                <a:latin typeface="Arial"/>
                <a:ea typeface="Arial"/>
                <a:cs typeface="Arial"/>
              </a:rPr>
              <a:t>MAKE WORK WORTH</a:t>
            </a:r>
          </a:p>
        </p:txBody>
      </p:sp>
      <p:sp>
        <p:nvSpPr>
          <p:cNvPr id="16" name="back-trushot-script">
            <a:extLst xmlns:a="http://schemas.openxmlformats.org/drawingml/2006/main">
              <a:ext uri="{FF2B5EF4-FFF2-40B4-BE49-F238E27FC236}">
                <a16:creationId xmlns:a16="http://schemas.microsoft.com/office/drawing/2014/main" id="{77F8B044-DD42-440E-AA2D-24F6DF509218}"/>
              </a:ext>
            </a:extLst>
          </p:cNvPr>
          <p:cNvSpPr>
            <a:spLocks xmlns:a="http://schemas.openxmlformats.org/drawingml/2006/main" noGrp="1"/>
          </p:cNvSpPr>
          <p:nvPr/>
        </p:nvSpPr>
        <p:spPr>
          <a:xfrm xmlns:a="http://schemas.openxmlformats.org/drawingml/2006/main">
            <a:off x="2628900" y="61150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i="1">
                <a:solidFill>
                  <a:srgbClr val="1F6248"/>
                </a:solidFill>
                <a:latin typeface="Georgia"/>
                <a:ea typeface="Georgia"/>
                <a:cs typeface="Georgia"/>
              </a:defRPr>
            </a:pPr>
            <a:r>
              <a:rPr sz="2400" i="1">
                <a:solidFill>
                  <a:srgbClr val="1F6248"/>
                </a:solidFill>
                <a:latin typeface="Georgia"/>
                <a:ea typeface="Georgia"/>
                <a:cs typeface="Georgia"/>
              </a:rPr>
              <a:t>watching.</a:t>
            </a:r>
          </a:p>
        </p:txBody>
      </p:sp>
      <p:sp>
        <p:nvSpPr>
          <p:cNvPr id="17" name="back-trushot-services">
            <a:extLst xmlns:a="http://schemas.openxmlformats.org/drawingml/2006/main">
              <a:ext uri="{FF2B5EF4-FFF2-40B4-BE49-F238E27FC236}">
                <a16:creationId xmlns:a16="http://schemas.microsoft.com/office/drawing/2014/main" id="{A56C2644-9778-42D8-91E1-8E0C07E95BC5}"/>
              </a:ext>
            </a:extLst>
          </p:cNvPr>
          <p:cNvSpPr>
            <a:spLocks xmlns:a="http://schemas.openxmlformats.org/drawingml/2006/main" noGrp="1"/>
          </p:cNvSpPr>
          <p:nvPr/>
        </p:nvSpPr>
        <p:spPr>
          <a:xfrm xmlns:a="http://schemas.openxmlformats.org/drawingml/2006/main">
            <a:off x="676275" y="6657975"/>
            <a:ext cx="3962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13" b="1">
                <a:solidFill>
                  <a:srgbClr val="1F6248"/>
                </a:solidFill>
                <a:latin typeface="Arial"/>
                <a:ea typeface="Arial"/>
                <a:cs typeface="Arial"/>
              </a:defRPr>
            </a:pPr>
            <a:r>
              <a:rPr sz="1013" b="1">
                <a:solidFill>
                  <a:srgbClr val="1F6248"/>
                </a:solidFill>
                <a:latin typeface="Arial"/>
                <a:ea typeface="Arial"/>
                <a:cs typeface="Arial"/>
              </a:rPr>
              <a:t>STRATEGY  /  CONTENT  /  CAMPAIGNS</a:t>
            </a:r>
          </a:p>
        </p:txBody>
      </p:sp>
      <p:sp>
        <p:nvSpPr>
          <p:cNvPr id="18" name="back-trushot-url">
            <a:extLst xmlns:a="http://schemas.openxmlformats.org/drawingml/2006/main">
              <a:ext uri="{FF2B5EF4-FFF2-40B4-BE49-F238E27FC236}">
                <a16:creationId xmlns:a16="http://schemas.microsoft.com/office/drawing/2014/main" id="{B40617BE-193E-4EE9-BF45-DEDEF9640D5F}"/>
              </a:ext>
            </a:extLst>
          </p:cNvPr>
          <p:cNvSpPr>
            <a:spLocks xmlns:a="http://schemas.openxmlformats.org/drawingml/2006/main" noGrp="1"/>
          </p:cNvSpPr>
          <p:nvPr/>
        </p:nvSpPr>
        <p:spPr>
          <a:xfrm xmlns:a="http://schemas.openxmlformats.org/drawingml/2006/main">
            <a:off x="676275" y="6905625"/>
            <a:ext cx="396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F6248"/>
                </a:solidFill>
                <a:latin typeface="Arial"/>
                <a:ea typeface="Arial"/>
                <a:cs typeface="Arial"/>
              </a:defRPr>
            </a:pPr>
            <a:r>
              <a:rPr sz="1200" b="1">
                <a:solidFill>
                  <a:srgbClr val="1F6248"/>
                </a:solidFill>
                <a:latin typeface="Arial"/>
                <a:ea typeface="Arial"/>
                <a:cs typeface="Arial"/>
              </a:rPr>
              <a:t>trushotmedia.com</a:t>
            </a:r>
          </a:p>
        </p:txBody>
      </p:sp>
    </p:spTree>
    <p:extLst>
      <p:ext uri="{BB962C8B-B14F-4D97-AF65-F5344CB8AC3E}">
        <p14:creationId xmlns:p14="http://schemas.microsoft.com/office/powerpoint/2010/main" val="4127542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2026-08-26T10:19:03.4580000Z</dcterms:created>
  <dcterms:modified xsi:type="dcterms:W3CDTF">2026-08-26T10:19:03.4580000Z</dcterms:modified>
</coreProperties>
</file>